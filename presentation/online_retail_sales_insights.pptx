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EFB48-11E4-43CB-B93F-67B84E04AE07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DAA13-5A9D-47F6-AF4B-BE727EBEA1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06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AA13-5A9D-47F6-AF4B-BE727EBEA14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08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1491-3497-96CC-654A-CC1D3EA8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BBC57-C1BE-588F-B150-BF628DF31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C1691-5BC5-005D-5085-BF66A040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A40FF-B6C5-124B-935D-B42F557B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C00A6-D8E9-71CE-57F5-8F294DB3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2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BF55-D0B6-67AA-EFDC-D5D79139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DE797-1D6B-164A-8DAE-A11CF7C6B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5F2C4-0EBF-BD1A-9016-9B5FEC70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B8C0D-2D21-D3A9-AC54-0AE6E60C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8D2C-5C76-E967-B475-D7C3203A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69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4BBD-D3FE-D07D-C92D-5F56C6CAF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0ABD5-5BE5-8B05-0603-AF2054775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74241-9C74-7183-8096-4429D83A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42C3F-E07B-EC5A-F36C-B5B653B3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08A7D-6647-505B-88CC-A5644823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12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66CF-9CB3-FD63-4135-081D1931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990A-BEAD-E4AD-673D-AF9695CBB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9E1DE-B7F1-3D91-E6C4-37156A03B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EFBB4-FDD2-7578-153F-67833D00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B9F78-3AC5-84A6-54C1-4B8E69E5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EF34-D2CB-35FA-9EBA-C3D5A20E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33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4F95F-BEF0-D248-22BB-86BCF7CD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5D7E2-B1B5-BE85-6F0C-393DB4604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11294-3834-94F0-A892-93C58D1FE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7AA61-4215-F986-71FB-7057461D8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C79B7-2714-64E2-DCEF-5D14B99BF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FDBE5-9EA4-7719-6206-4810BDAA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A6D72-3F5A-A0E4-1FC9-B01FBF43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8F34D-4E68-2628-4944-2893C259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647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B491-CB19-E02F-85C1-E67595841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060D16-B12C-239C-6285-8659745F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C0338-DC81-9D49-58A9-AF67A1F3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48938-0431-EBD5-D652-6803718E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0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459DE-572C-5990-CEDE-FBB34EF5D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822404-0EB1-D124-2BD3-A812080E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EEFE4-13B0-B29D-6F6C-C01A7232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465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B8D4-9A54-894E-108D-E408E6B3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16F07-6EA2-6D31-0667-CCD9CF232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235E6-FE17-A0C9-6C68-F91FF3482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64C4-1F1F-11AC-A99C-28F3ABF7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35D56-BFFF-2A6E-C5BB-80C225B9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3826B-49D6-9F32-1300-2C537A44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722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A28B-171B-D773-BF77-FC1477A3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40050D-46C1-4BC3-7448-CDEB737E5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F761F-0F15-6689-9E8F-9908CC31C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58089-0B3F-2435-773B-75B076EE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F8DF2-C4EB-7A35-D55F-6D5D9DE3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A3C60-1FDD-568A-F25D-8D95B4EE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5046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32D3-0F39-4BFF-94B2-B1209464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4AD87-2AE0-B914-387D-AC6326A26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1B525-1CAE-3817-023E-37EE2AFFE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94691-BDB5-64A9-F9CE-3E8CBCAB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B18E6-7DD4-8827-75F2-96744C2F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91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9FC85-01A7-B637-1150-F9770531E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F13B4-1471-A510-F418-5D68574F0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5581B-6D20-0CFB-DD8D-8BF8C16E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DA6D-521B-9A68-E8B9-67EF244B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CC8E7-D43B-4F7B-84CE-F03E4114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905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D91F1-35C3-08A4-85A5-AF75EE60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52928-9FF2-1CE0-28F6-E2B8B3E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CE206-B086-2249-8A8E-CD4DD3454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C09E1-D8B1-46BC-A23D-FD031ADC7462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46094-54AD-3BD9-D3DE-637320667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98A5B-F75C-2578-1C1A-DCBA1ADAB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54B2-F21B-4156-9994-F800CA3711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040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swajit-sasmal/online-retail-eda-pipeli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352/online+retail" TargetMode="Externa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swajit-sasmal/online-retail-eda-pipeline/blob/main/scripts/extract.p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github.com/biswajit-sasmal/online-retail-eda-pipeline/blob/main/scripts/clean.py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mailto:biswajitsasmal.data@gmail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biswajitsasmal/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s://github.com/biswajit-sasm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2671-71D8-221B-0F92-B24A7378A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570271"/>
            <a:ext cx="11297264" cy="658761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Aparajita" panose="02020603050405020304" pitchFamily="18" charset="0"/>
                <a:cs typeface="Aparajita" panose="02020603050405020304" pitchFamily="18" charset="0"/>
              </a:rPr>
              <a:t>Online Retail </a:t>
            </a:r>
            <a:r>
              <a:rPr lang="en-IN" sz="4800" b="1" dirty="0">
                <a:latin typeface="Aparajita" panose="02020603050405020304" pitchFamily="18" charset="0"/>
                <a:cs typeface="Aparajita" panose="02020603050405020304" pitchFamily="18" charset="0"/>
              </a:rPr>
              <a:t>Sales</a:t>
            </a:r>
            <a:r>
              <a:rPr lang="en-IN" sz="4400" b="1" dirty="0">
                <a:latin typeface="Aparajita" panose="02020603050405020304" pitchFamily="18" charset="0"/>
                <a:cs typeface="Aparajita" panose="02020603050405020304" pitchFamily="18" charset="0"/>
              </a:rPr>
              <a:t> &amp; Customer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FB67C1-1DE1-5EAE-7A54-D80FA8284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29032"/>
            <a:ext cx="9144000" cy="4193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Data Extraction, Data Cleaning, </a:t>
            </a: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Exploratory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Analysis &amp; RFM-Based Customer Insights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11485-ED8A-D859-E15E-B3A4A0475817}"/>
              </a:ext>
            </a:extLst>
          </p:cNvPr>
          <p:cNvSpPr txBox="1"/>
          <p:nvPr/>
        </p:nvSpPr>
        <p:spPr>
          <a:xfrm>
            <a:off x="8701548" y="6038305"/>
            <a:ext cx="3623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 : BISWAJIT SASMAL</a:t>
            </a:r>
          </a:p>
          <a:p>
            <a:r>
              <a:rPr lang="en-IN" dirty="0"/>
              <a:t>Date : 02-04-2026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6E0353-CB89-D6B4-6115-022187859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94" y="4326194"/>
            <a:ext cx="3022170" cy="23584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27972C-F566-86DB-101A-3CB60DA3AA64}"/>
              </a:ext>
            </a:extLst>
          </p:cNvPr>
          <p:cNvSpPr txBox="1"/>
          <p:nvPr/>
        </p:nvSpPr>
        <p:spPr>
          <a:xfrm>
            <a:off x="3215148" y="1648388"/>
            <a:ext cx="595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parajita" panose="02020603050405020304" pitchFamily="18" charset="0"/>
                <a:cs typeface="Aparajita" panose="02020603050405020304" pitchFamily="18" charset="0"/>
              </a:rPr>
              <a:t>Project GitHub Link : </a:t>
            </a:r>
            <a:r>
              <a:rPr lang="en-IN" dirty="0">
                <a:latin typeface="Aparajita" panose="02020603050405020304" pitchFamily="18" charset="0"/>
                <a:cs typeface="Aparajita" panose="02020603050405020304" pitchFamily="18" charset="0"/>
                <a:hlinkClick r:id="rId3"/>
              </a:rPr>
              <a:t>Online-Retail-EDA-Pipeline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137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CBBBC7-8BD5-AC1F-9970-7FB179E272E0}"/>
              </a:ext>
            </a:extLst>
          </p:cNvPr>
          <p:cNvSpPr txBox="1"/>
          <p:nvPr/>
        </p:nvSpPr>
        <p:spPr>
          <a:xfrm>
            <a:off x="3672348" y="162231"/>
            <a:ext cx="4847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Table of Content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9FF7C-4786-9B91-CB05-5BE62F873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13" y="2143432"/>
            <a:ext cx="2133600" cy="213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98D63D-C9FF-C856-86F0-045D876F7442}"/>
              </a:ext>
            </a:extLst>
          </p:cNvPr>
          <p:cNvSpPr txBox="1"/>
          <p:nvPr/>
        </p:nvSpPr>
        <p:spPr>
          <a:xfrm>
            <a:off x="3076514" y="685451"/>
            <a:ext cx="7521677" cy="777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Project Overview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Dataset Overview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Data Extraction &amp; Data Cleaning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Key Business Analysis Performed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Monthly Sales Tend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Top Products Insights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Top Country Insights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Customer RFM Analysis &amp; Segmentation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Strategic Recommendation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Tool Used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IN" b="1" dirty="0">
              <a:latin typeface="Bell MT" panose="02020503060305020303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IN" b="1" dirty="0">
              <a:latin typeface="Bell MT" panose="02020503060305020303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IN" b="1" dirty="0">
              <a:latin typeface="Bell MT" panose="02020503060305020303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IN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02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0D8C73-660F-26D8-CCAE-AC1F505067A5}"/>
              </a:ext>
            </a:extLst>
          </p:cNvPr>
          <p:cNvSpPr txBox="1"/>
          <p:nvPr/>
        </p:nvSpPr>
        <p:spPr>
          <a:xfrm>
            <a:off x="3804920" y="172720"/>
            <a:ext cx="458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Project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BA2660-F32E-8500-E2F4-BF14979E9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153" y="3368045"/>
            <a:ext cx="5471694" cy="34899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B00A81-5277-72AD-65D4-75F63A4ECCB9}"/>
              </a:ext>
            </a:extLst>
          </p:cNvPr>
          <p:cNvSpPr txBox="1"/>
          <p:nvPr/>
        </p:nvSpPr>
        <p:spPr>
          <a:xfrm>
            <a:off x="1556446" y="634796"/>
            <a:ext cx="8463280" cy="2750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Analyze Online Retail Transaction Data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Understand Sales Pattern and Customer Behaviour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Identify Key Business Insights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Segment Customers Using RFM</a:t>
            </a:r>
          </a:p>
        </p:txBody>
      </p:sp>
    </p:spTree>
    <p:extLst>
      <p:ext uri="{BB962C8B-B14F-4D97-AF65-F5344CB8AC3E}">
        <p14:creationId xmlns:p14="http://schemas.microsoft.com/office/powerpoint/2010/main" val="27243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1DF11-2F8B-017A-7CCC-425AEA9A63BF}"/>
              </a:ext>
            </a:extLst>
          </p:cNvPr>
          <p:cNvSpPr txBox="1"/>
          <p:nvPr/>
        </p:nvSpPr>
        <p:spPr>
          <a:xfrm>
            <a:off x="3982064" y="127820"/>
            <a:ext cx="4227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5C479-88C6-B055-1164-2D0097DFA621}"/>
              </a:ext>
            </a:extLst>
          </p:cNvPr>
          <p:cNvSpPr txBox="1"/>
          <p:nvPr/>
        </p:nvSpPr>
        <p:spPr>
          <a:xfrm>
            <a:off x="747252" y="793003"/>
            <a:ext cx="109039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Bell MT" panose="02020503060305020303" pitchFamily="18" charset="0"/>
              </a:rPr>
              <a:t>This dataset contains real-world online retail transactions, including product details, customer information, and purchase Invoice records. It is large and unclean, making it suitable for practical data analysis and business insights. This is a transactional data set which contains all the transactions occurring between 01/12/2010 and 09/12/2011 for a UK-based and registered non-store online retail. The company mainly sells unique all-occasion gifts. Many customers of the company are wholesalers.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5556F-A014-59AF-A72F-59106A3608F1}"/>
              </a:ext>
            </a:extLst>
          </p:cNvPr>
          <p:cNvSpPr txBox="1"/>
          <p:nvPr/>
        </p:nvSpPr>
        <p:spPr>
          <a:xfrm>
            <a:off x="2748116" y="2555228"/>
            <a:ext cx="6902245" cy="2789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Data Source : </a:t>
            </a:r>
            <a:r>
              <a:rPr lang="en-IN" b="1" dirty="0">
                <a:latin typeface="Bell MT" panose="02020503060305020303" pitchFamily="18" charset="0"/>
                <a:hlinkClick r:id="rId3"/>
              </a:rPr>
              <a:t>UCI Machine Learning Repository</a:t>
            </a:r>
            <a:endParaRPr lang="en-IN" b="1" dirty="0">
              <a:latin typeface="Bell MT" panose="02020503060305020303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Rows : 500K + transactions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Bell MT" panose="02020503060305020303" pitchFamily="18" charset="0"/>
              </a:rPr>
              <a:t>Columns : </a:t>
            </a:r>
            <a:r>
              <a:rPr lang="en-US" b="1" dirty="0" err="1">
                <a:latin typeface="Bell MT" panose="02020503060305020303" pitchFamily="18" charset="0"/>
              </a:rPr>
              <a:t>InvoiceNo</a:t>
            </a:r>
            <a:r>
              <a:rPr lang="en-US" b="1" dirty="0">
                <a:latin typeface="Bell MT" panose="02020503060305020303" pitchFamily="18" charset="0"/>
              </a:rPr>
              <a:t>, </a:t>
            </a:r>
            <a:r>
              <a:rPr lang="en-US" b="1" dirty="0" err="1">
                <a:latin typeface="Bell MT" panose="02020503060305020303" pitchFamily="18" charset="0"/>
              </a:rPr>
              <a:t>InvoiceDate</a:t>
            </a:r>
            <a:r>
              <a:rPr lang="en-US" b="1" dirty="0">
                <a:latin typeface="Bell MT" panose="02020503060305020303" pitchFamily="18" charset="0"/>
              </a:rPr>
              <a:t>, </a:t>
            </a:r>
            <a:r>
              <a:rPr lang="en-US" b="1" dirty="0" err="1">
                <a:latin typeface="Bell MT" panose="02020503060305020303" pitchFamily="18" charset="0"/>
              </a:rPr>
              <a:t>StockCode</a:t>
            </a:r>
            <a:r>
              <a:rPr lang="en-US" b="1" dirty="0">
                <a:latin typeface="Bell MT" panose="02020503060305020303" pitchFamily="18" charset="0"/>
              </a:rPr>
              <a:t>, Description, Quantity, </a:t>
            </a:r>
            <a:r>
              <a:rPr lang="en-US" b="1" dirty="0" err="1">
                <a:latin typeface="Bell MT" panose="02020503060305020303" pitchFamily="18" charset="0"/>
              </a:rPr>
              <a:t>UnitPrice</a:t>
            </a:r>
            <a:r>
              <a:rPr lang="en-US" b="1" dirty="0">
                <a:latin typeface="Bell MT" panose="02020503060305020303" pitchFamily="18" charset="0"/>
              </a:rPr>
              <a:t>, </a:t>
            </a:r>
            <a:r>
              <a:rPr lang="en-US" b="1" dirty="0" err="1">
                <a:latin typeface="Bell MT" panose="02020503060305020303" pitchFamily="18" charset="0"/>
              </a:rPr>
              <a:t>CustomerID</a:t>
            </a:r>
            <a:r>
              <a:rPr lang="en-US" b="1" dirty="0">
                <a:latin typeface="Bell MT" panose="02020503060305020303" pitchFamily="18" charset="0"/>
              </a:rPr>
              <a:t>, Country</a:t>
            </a:r>
            <a:endParaRPr lang="en-IN" b="1" dirty="0">
              <a:latin typeface="Bell MT" panose="02020503060305020303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IN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191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2A368B-AD18-B76B-124F-CB08C1A52F2C}"/>
              </a:ext>
            </a:extLst>
          </p:cNvPr>
          <p:cNvSpPr txBox="1"/>
          <p:nvPr/>
        </p:nvSpPr>
        <p:spPr>
          <a:xfrm>
            <a:off x="3072580" y="216310"/>
            <a:ext cx="6046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Data Extraction &amp; Data Cleaning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1AB37-9E6D-C0BF-DE16-0F168AF67A0C}"/>
              </a:ext>
            </a:extLst>
          </p:cNvPr>
          <p:cNvSpPr txBox="1"/>
          <p:nvPr/>
        </p:nvSpPr>
        <p:spPr>
          <a:xfrm>
            <a:off x="1425677" y="739530"/>
            <a:ext cx="9783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Data was extracted from the UCI Machine Learning Repository using a Python-based approach and stored in a structured csv format for further processing and analysis.</a:t>
            </a:r>
          </a:p>
          <a:p>
            <a:endParaRPr lang="en-US" b="1" dirty="0">
              <a:latin typeface="Bell MT" panose="02020503060305020303" pitchFamily="18" charset="0"/>
            </a:endParaRPr>
          </a:p>
          <a:p>
            <a:r>
              <a:rPr lang="en-US" b="1" dirty="0">
                <a:latin typeface="Bell MT" panose="02020503060305020303" pitchFamily="18" charset="0"/>
              </a:rPr>
              <a:t>Python Code For Data Extraction : </a:t>
            </a:r>
            <a:r>
              <a:rPr lang="en-US" b="1" dirty="0">
                <a:latin typeface="Bell MT" panose="02020503060305020303" pitchFamily="18" charset="0"/>
                <a:hlinkClick r:id="rId3"/>
              </a:rPr>
              <a:t>Data-Extraction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7B1B6-D5B7-C829-648F-9D7B07D2F71C}"/>
              </a:ext>
            </a:extLst>
          </p:cNvPr>
          <p:cNvSpPr txBox="1"/>
          <p:nvPr/>
        </p:nvSpPr>
        <p:spPr>
          <a:xfrm>
            <a:off x="1533832" y="2271252"/>
            <a:ext cx="8731045" cy="3377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en-IN" b="1" dirty="0">
                <a:latin typeface="Bell MT" panose="02020503060305020303" pitchFamily="18" charset="0"/>
              </a:rPr>
              <a:t>Remove Missing Values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en-IN" b="1" dirty="0">
                <a:latin typeface="Bell MT" panose="02020503060305020303" pitchFamily="18" charset="0"/>
              </a:rPr>
              <a:t>Remove Cancelled Invoice Transactions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en-IN" b="1" dirty="0">
                <a:latin typeface="Bell MT" panose="02020503060305020303" pitchFamily="18" charset="0"/>
              </a:rPr>
              <a:t>Remove Duplicates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en-IN" b="1" dirty="0">
                <a:latin typeface="Bell MT" panose="02020503060305020303" pitchFamily="18" charset="0"/>
              </a:rPr>
              <a:t>Fix Inconsistent Product Description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en-IN" b="1" dirty="0">
                <a:latin typeface="Bell MT" panose="02020503060305020303" pitchFamily="18" charset="0"/>
              </a:rPr>
              <a:t>Handled Negative  Quantity &amp; Invalid Unit Price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en-IN" b="1" dirty="0">
                <a:latin typeface="Bell MT" panose="02020503060305020303" pitchFamily="18" charset="0"/>
              </a:rPr>
              <a:t>Create </a:t>
            </a:r>
            <a:r>
              <a:rPr lang="en-IN" b="1" dirty="0" err="1">
                <a:latin typeface="Bell MT" panose="02020503060305020303" pitchFamily="18" charset="0"/>
              </a:rPr>
              <a:t>TotalPrice</a:t>
            </a:r>
            <a:r>
              <a:rPr lang="en-IN" b="1" dirty="0">
                <a:latin typeface="Bell MT" panose="02020503060305020303" pitchFamily="18" charset="0"/>
              </a:rPr>
              <a:t>  = Quantity × </a:t>
            </a:r>
            <a:r>
              <a:rPr lang="en-IN" b="1" dirty="0" err="1">
                <a:latin typeface="Bell MT" panose="02020503060305020303" pitchFamily="18" charset="0"/>
              </a:rPr>
              <a:t>UnitPrice</a:t>
            </a:r>
            <a:r>
              <a:rPr lang="en-IN" b="1" dirty="0">
                <a:latin typeface="Bell MT" panose="02020503060305020303" pitchFamily="18" charset="0"/>
              </a:rPr>
              <a:t> for line of Invoice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en-IN" b="1" dirty="0">
                <a:latin typeface="Bell MT" panose="02020503060305020303" pitchFamily="18" charset="0"/>
              </a:rPr>
              <a:t>Extract Month Number and Month Name from Invoice Date 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en-IN" b="1" dirty="0">
                <a:latin typeface="Bell MT" panose="02020503060305020303" pitchFamily="18" charset="0"/>
              </a:rPr>
              <a:t>Prepared Dataset For Further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83F8A-246C-E3CB-ACFD-21DBDDA95A75}"/>
              </a:ext>
            </a:extLst>
          </p:cNvPr>
          <p:cNvSpPr txBox="1"/>
          <p:nvPr/>
        </p:nvSpPr>
        <p:spPr>
          <a:xfrm>
            <a:off x="1425677" y="5933804"/>
            <a:ext cx="541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Python Code For Data Cleaning : </a:t>
            </a:r>
            <a:r>
              <a:rPr lang="en-IN" b="1" dirty="0">
                <a:latin typeface="Bell MT" panose="02020503060305020303" pitchFamily="18" charset="0"/>
                <a:hlinkClick r:id="rId4"/>
              </a:rPr>
              <a:t>Data-Cleaning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8AC61-2919-981E-620E-E6BF41DABB76}"/>
              </a:ext>
            </a:extLst>
          </p:cNvPr>
          <p:cNvSpPr txBox="1"/>
          <p:nvPr/>
        </p:nvSpPr>
        <p:spPr>
          <a:xfrm>
            <a:off x="3628103" y="2037658"/>
            <a:ext cx="3814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Data Cleaning Steps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751944-C564-4E28-266C-1D3EE4830B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185" y="1722660"/>
            <a:ext cx="3962815" cy="4078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783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1CA7E-8C9C-2531-6F05-B93411F1C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B3580-FF60-F4AA-4D37-B711D490D7D3}"/>
              </a:ext>
            </a:extLst>
          </p:cNvPr>
          <p:cNvSpPr txBox="1"/>
          <p:nvPr/>
        </p:nvSpPr>
        <p:spPr>
          <a:xfrm>
            <a:off x="3195484" y="206478"/>
            <a:ext cx="5801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Key Business Analysis Performed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5EDC5-51ED-4C7A-D9F3-6FFBB64450A1}"/>
              </a:ext>
            </a:extLst>
          </p:cNvPr>
          <p:cNvSpPr txBox="1"/>
          <p:nvPr/>
        </p:nvSpPr>
        <p:spPr>
          <a:xfrm>
            <a:off x="2851355" y="953729"/>
            <a:ext cx="6145161" cy="2235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IN" b="1" dirty="0">
                <a:latin typeface="Bell MT" panose="02020503060305020303" pitchFamily="18" charset="0"/>
              </a:rPr>
              <a:t>Identify Top 5 Products Based on Quantity Sold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IN" b="1" dirty="0">
                <a:latin typeface="Bell MT" panose="02020503060305020303" pitchFamily="18" charset="0"/>
              </a:rPr>
              <a:t>Identify Top 5 Products Based on Sales Amount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IN" b="1" dirty="0">
                <a:latin typeface="Bell MT" panose="02020503060305020303" pitchFamily="18" charset="0"/>
              </a:rPr>
              <a:t>Top 5 Country Based on Revenue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IN" b="1" dirty="0">
                <a:latin typeface="Bell MT" panose="02020503060305020303" pitchFamily="18" charset="0"/>
              </a:rPr>
              <a:t>Customer Segment Based on RFM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28ADF3-7EDA-9A85-510D-39775AB20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296" y="3313471"/>
            <a:ext cx="6607278" cy="3544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0876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94E06-A764-3768-77A6-7202150792E6}"/>
              </a:ext>
            </a:extLst>
          </p:cNvPr>
          <p:cNvSpPr txBox="1"/>
          <p:nvPr/>
        </p:nvSpPr>
        <p:spPr>
          <a:xfrm>
            <a:off x="4286864" y="157316"/>
            <a:ext cx="3618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Monthly Sales Trend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5D259C-D7BA-5B8F-A63A-58690830F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8" y="680536"/>
            <a:ext cx="9242323" cy="4997011"/>
          </a:xfrm>
          <a:prstGeom prst="roundRect">
            <a:avLst>
              <a:gd name="adj" fmla="val 4271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9D8277-6666-3E6B-D331-EF99FECA0258}"/>
              </a:ext>
            </a:extLst>
          </p:cNvPr>
          <p:cNvSpPr txBox="1"/>
          <p:nvPr/>
        </p:nvSpPr>
        <p:spPr>
          <a:xfrm>
            <a:off x="1474837" y="5899355"/>
            <a:ext cx="9478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Total Sales Rising Up From August 2011 and have reached Peak in November 2011. This is likely due to Holiday season sales at end of the Year. A </a:t>
            </a:r>
            <a:r>
              <a:rPr lang="en-IN" b="1" dirty="0">
                <a:latin typeface="Bell MT" panose="02020503060305020303" pitchFamily="18" charset="0"/>
              </a:rPr>
              <a:t>Seasonal trends observed. </a:t>
            </a:r>
          </a:p>
          <a:p>
            <a:endParaRPr lang="en-IN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7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E754C-B780-F757-B76B-542EA803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06C1D4-C377-C2D3-7CE6-3E5E3EA6C520}"/>
              </a:ext>
            </a:extLst>
          </p:cNvPr>
          <p:cNvSpPr txBox="1"/>
          <p:nvPr/>
        </p:nvSpPr>
        <p:spPr>
          <a:xfrm>
            <a:off x="3608439" y="167149"/>
            <a:ext cx="4975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Top Products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734B9-97B4-B115-3D00-7DE007D0B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000" y="690369"/>
            <a:ext cx="9288000" cy="4947744"/>
          </a:xfrm>
          <a:prstGeom prst="roundRect">
            <a:avLst>
              <a:gd name="adj" fmla="val 3551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4869C8-A98B-A2CC-B75B-A9A733DB8564}"/>
              </a:ext>
            </a:extLst>
          </p:cNvPr>
          <p:cNvSpPr txBox="1"/>
          <p:nvPr/>
        </p:nvSpPr>
        <p:spPr>
          <a:xfrm>
            <a:off x="1563329" y="5830529"/>
            <a:ext cx="800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Top Demanding Products Based on Quantity Sold in 2011 which indicates Customer Products Preference</a:t>
            </a:r>
          </a:p>
        </p:txBody>
      </p:sp>
    </p:spTree>
    <p:extLst>
      <p:ext uri="{BB962C8B-B14F-4D97-AF65-F5344CB8AC3E}">
        <p14:creationId xmlns:p14="http://schemas.microsoft.com/office/powerpoint/2010/main" val="1292656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2B887-9E0E-3CAF-0EF0-E0FF54FF1B33}"/>
              </a:ext>
            </a:extLst>
          </p:cNvPr>
          <p:cNvSpPr txBox="1"/>
          <p:nvPr/>
        </p:nvSpPr>
        <p:spPr>
          <a:xfrm>
            <a:off x="4159045" y="167148"/>
            <a:ext cx="3873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Top Country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59976-BD69-4DF0-5C8F-D3EF0382D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42" y="927014"/>
            <a:ext cx="9288000" cy="4704568"/>
          </a:xfrm>
          <a:prstGeom prst="roundRect">
            <a:avLst>
              <a:gd name="adj" fmla="val 517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F36CC5-2A38-DA74-5245-7FA199745609}"/>
              </a:ext>
            </a:extLst>
          </p:cNvPr>
          <p:cNvSpPr txBox="1"/>
          <p:nvPr/>
        </p:nvSpPr>
        <p:spPr>
          <a:xfrm>
            <a:off x="1681316" y="5820697"/>
            <a:ext cx="7275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UK (United Kingdom) Dominate Revenue in 2011 more than 💷7M. Few Countries Countries Contribute majority of sales.</a:t>
            </a:r>
          </a:p>
        </p:txBody>
      </p:sp>
    </p:spTree>
    <p:extLst>
      <p:ext uri="{BB962C8B-B14F-4D97-AF65-F5344CB8AC3E}">
        <p14:creationId xmlns:p14="http://schemas.microsoft.com/office/powerpoint/2010/main" val="106071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4081D-DA10-15CB-0C07-AB89DEF075FF}"/>
              </a:ext>
            </a:extLst>
          </p:cNvPr>
          <p:cNvSpPr txBox="1"/>
          <p:nvPr/>
        </p:nvSpPr>
        <p:spPr>
          <a:xfrm>
            <a:off x="2408904" y="117988"/>
            <a:ext cx="7374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Customer RFM Analysis &amp;Segmentation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FA53C-C987-AD1C-C363-A088D8D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517" y="875071"/>
            <a:ext cx="9611289" cy="4758813"/>
          </a:xfrm>
          <a:prstGeom prst="roundRect">
            <a:avLst>
              <a:gd name="adj" fmla="val 320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A3DB93-00C0-BC41-F10A-8522B4492B50}"/>
              </a:ext>
            </a:extLst>
          </p:cNvPr>
          <p:cNvSpPr txBox="1"/>
          <p:nvPr/>
        </p:nvSpPr>
        <p:spPr>
          <a:xfrm>
            <a:off x="1170039" y="5742039"/>
            <a:ext cx="9930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Most customers fall within mid-range RFM scores (5–8), indicating a large group of moderately engaged customers.</a:t>
            </a:r>
          </a:p>
          <a:p>
            <a:r>
              <a:rPr lang="en-US" b="1" dirty="0">
                <a:latin typeface="Bell MT" panose="02020503060305020303" pitchFamily="18" charset="0"/>
              </a:rPr>
              <a:t>Fewer customers have very high RFM scores (9–11), suggesting a smaller segment of highly valuable, loyal customers.</a:t>
            </a:r>
            <a:endParaRPr lang="en-IN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54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7FE09A-C889-61C5-B99A-78AF813DCE48}"/>
              </a:ext>
            </a:extLst>
          </p:cNvPr>
          <p:cNvSpPr txBox="1"/>
          <p:nvPr/>
        </p:nvSpPr>
        <p:spPr>
          <a:xfrm>
            <a:off x="3505200" y="157315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Strategic Recommendation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A27022-950A-A4B5-0FF4-3B350A446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662" y="896845"/>
            <a:ext cx="5457352" cy="46154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B4B77A-9814-A575-2AB0-E6CFC247479E}"/>
              </a:ext>
            </a:extLst>
          </p:cNvPr>
          <p:cNvSpPr txBox="1"/>
          <p:nvPr/>
        </p:nvSpPr>
        <p:spPr>
          <a:xfrm>
            <a:off x="1278193" y="1818968"/>
            <a:ext cx="55547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Inventory Planning:</a:t>
            </a:r>
          </a:p>
          <a:p>
            <a:r>
              <a:rPr lang="en-US" dirty="0"/>
              <a:t>Prioritize stock availability for the top 2 products to avoid stockouts and lost sales.</a:t>
            </a:r>
          </a:p>
          <a:p>
            <a:r>
              <a:rPr lang="en-US" b="1" dirty="0"/>
              <a:t>Bundling Strategy:</a:t>
            </a:r>
          </a:p>
          <a:p>
            <a:r>
              <a:rPr lang="en-US" dirty="0"/>
              <a:t>Combine mid-tier products with top-selling items to increase their sales volume.</a:t>
            </a:r>
          </a:p>
          <a:p>
            <a:r>
              <a:rPr lang="en-US" b="1" dirty="0"/>
              <a:t>Pricing Optimization:</a:t>
            </a:r>
          </a:p>
          <a:p>
            <a:r>
              <a:rPr lang="en-US" dirty="0"/>
              <a:t>Analyze whether high-volume products have lower margins and explore pricing adjustments.</a:t>
            </a:r>
          </a:p>
          <a:p>
            <a:r>
              <a:rPr lang="en-US" b="1" dirty="0"/>
              <a:t>Marketing Focus:</a:t>
            </a:r>
          </a:p>
          <a:p>
            <a:r>
              <a:rPr lang="en-US" dirty="0"/>
              <a:t>Promote top-performing products in campaigns since they already have proven demand.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1105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B2101C-FC08-21F2-0D0C-C1B431354578}"/>
              </a:ext>
            </a:extLst>
          </p:cNvPr>
          <p:cNvSpPr txBox="1"/>
          <p:nvPr/>
        </p:nvSpPr>
        <p:spPr>
          <a:xfrm>
            <a:off x="3947651" y="78658"/>
            <a:ext cx="4296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300" dirty="0">
                <a:latin typeface="Aparajita" panose="02020603050405020304" pitchFamily="18" charset="0"/>
                <a:cs typeface="Aparajita" panose="02020603050405020304" pitchFamily="18" charset="0"/>
              </a:rPr>
              <a:t>Tools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98918-7F2C-CAF9-51F1-3E0CB9BB0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588" y="905238"/>
            <a:ext cx="648000" cy="64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19384D-1A31-3C8A-D48F-CC90B84B7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588" y="2005119"/>
            <a:ext cx="648000" cy="64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7927B5-ABB1-01A4-0B30-18D842C7EE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588" y="3105000"/>
            <a:ext cx="648000" cy="64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15FEDB-B489-27D9-2699-0091D32477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833" y="4204881"/>
            <a:ext cx="685755" cy="64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D6221B-63B1-0D2D-F163-1773B9C6E9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833" y="5304761"/>
            <a:ext cx="648000" cy="64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5D0590-449C-049D-C896-77C19FFF1C2E}"/>
              </a:ext>
            </a:extLst>
          </p:cNvPr>
          <p:cNvSpPr txBox="1"/>
          <p:nvPr/>
        </p:nvSpPr>
        <p:spPr>
          <a:xfrm>
            <a:off x="2536723" y="1044572"/>
            <a:ext cx="456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sto MT" panose="02040603050505030304" pitchFamily="18" charset="0"/>
              </a:rPr>
              <a:t>Python as a Programming Language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7D7321-99EF-4BB9-F71C-AC7F0B148259}"/>
              </a:ext>
            </a:extLst>
          </p:cNvPr>
          <p:cNvSpPr txBox="1"/>
          <p:nvPr/>
        </p:nvSpPr>
        <p:spPr>
          <a:xfrm>
            <a:off x="2536722" y="2144453"/>
            <a:ext cx="507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sto MT" panose="02040603050505030304" pitchFamily="18" charset="0"/>
              </a:rPr>
              <a:t>Pandas as Data Cleaning &amp; Data Manipulation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B8F453-ABD1-D61A-8D6F-E7D92990B0BB}"/>
              </a:ext>
            </a:extLst>
          </p:cNvPr>
          <p:cNvSpPr txBox="1"/>
          <p:nvPr/>
        </p:nvSpPr>
        <p:spPr>
          <a:xfrm>
            <a:off x="2536722" y="3244334"/>
            <a:ext cx="5358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latin typeface="Calisto MT" panose="02040603050505030304" pitchFamily="18" charset="0"/>
              </a:rPr>
              <a:t>Jupyter</a:t>
            </a:r>
            <a:r>
              <a:rPr lang="en-IN" b="1" dirty="0">
                <a:latin typeface="Calisto MT" panose="02040603050505030304" pitchFamily="18" charset="0"/>
              </a:rPr>
              <a:t> Notebook For EDA &amp; RFM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F00AB7-53EF-369C-E57A-CCE05D827702}"/>
              </a:ext>
            </a:extLst>
          </p:cNvPr>
          <p:cNvSpPr txBox="1"/>
          <p:nvPr/>
        </p:nvSpPr>
        <p:spPr>
          <a:xfrm>
            <a:off x="2536722" y="4329457"/>
            <a:ext cx="525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sto MT" panose="02040603050505030304" pitchFamily="18" charset="0"/>
              </a:rPr>
              <a:t>Visual Studio Code For Creating .</a:t>
            </a:r>
            <a:r>
              <a:rPr lang="en-IN" b="1" dirty="0" err="1">
                <a:latin typeface="Calisto MT" panose="02040603050505030304" pitchFamily="18" charset="0"/>
              </a:rPr>
              <a:t>py</a:t>
            </a:r>
            <a:r>
              <a:rPr lang="en-IN" b="1" dirty="0">
                <a:latin typeface="Calisto MT" panose="02040603050505030304" pitchFamily="18" charset="0"/>
              </a:rPr>
              <a:t> scripts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600B29-5184-054B-FF81-D11879999DA3}"/>
              </a:ext>
            </a:extLst>
          </p:cNvPr>
          <p:cNvSpPr txBox="1"/>
          <p:nvPr/>
        </p:nvSpPr>
        <p:spPr>
          <a:xfrm>
            <a:off x="2626060" y="5444095"/>
            <a:ext cx="6206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sto MT" panose="02040603050505030304" pitchFamily="18" charset="0"/>
              </a:rPr>
              <a:t>Git &amp; GitHub For Version Control &amp; Project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24083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D753B8-D85D-0BFE-E3C2-282910FD7314}"/>
              </a:ext>
            </a:extLst>
          </p:cNvPr>
          <p:cNvSpPr txBox="1"/>
          <p:nvPr/>
        </p:nvSpPr>
        <p:spPr>
          <a:xfrm>
            <a:off x="1633959" y="254878"/>
            <a:ext cx="89240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latin typeface="Aparajita" panose="02020603050405020304" pitchFamily="18" charset="0"/>
                <a:cs typeface="Aparajita" panose="02020603050405020304" pitchFamily="18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24CCB7-8433-694C-C075-CD456661A05B}"/>
              </a:ext>
            </a:extLst>
          </p:cNvPr>
          <p:cNvSpPr txBox="1"/>
          <p:nvPr/>
        </p:nvSpPr>
        <p:spPr>
          <a:xfrm>
            <a:off x="4132160" y="2226737"/>
            <a:ext cx="58452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parajita" panose="02020603050405020304" pitchFamily="18" charset="0"/>
                <a:cs typeface="Aparajita" panose="02020603050405020304" pitchFamily="18" charset="0"/>
              </a:rPr>
              <a:t>BISWAJIT SASMAL</a:t>
            </a:r>
          </a:p>
          <a:p>
            <a:pPr algn="ctr"/>
            <a:r>
              <a:rPr lang="en-IN" sz="2800" b="1" dirty="0">
                <a:latin typeface="Aparajita" panose="02020603050405020304" pitchFamily="18" charset="0"/>
                <a:cs typeface="Aparajita" panose="02020603050405020304" pitchFamily="18" charset="0"/>
              </a:rPr>
              <a:t>Aspiring Data Analyst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E9F96-9219-C888-E980-18EBFBC6441D}"/>
              </a:ext>
            </a:extLst>
          </p:cNvPr>
          <p:cNvSpPr txBox="1"/>
          <p:nvPr/>
        </p:nvSpPr>
        <p:spPr>
          <a:xfrm>
            <a:off x="4082999" y="4244117"/>
            <a:ext cx="3680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Connect With Me</a:t>
            </a:r>
          </a:p>
        </p:txBody>
      </p: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CEA2BDF7-2B7B-076B-7DD2-D5B4AB16B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618" y="5224852"/>
            <a:ext cx="880143" cy="792866"/>
          </a:xfrm>
          <a:prstGeom prst="rect">
            <a:avLst/>
          </a:prstGeom>
        </p:spPr>
      </p:pic>
      <p:pic>
        <p:nvPicPr>
          <p:cNvPr id="10" name="Picture 9">
            <a:hlinkClick r:id="rId4"/>
            <a:extLst>
              <a:ext uri="{FF2B5EF4-FFF2-40B4-BE49-F238E27FC236}">
                <a16:creationId xmlns:a16="http://schemas.microsoft.com/office/drawing/2014/main" id="{30242912-B6DF-2582-DE78-24F3DDD3E7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146" y="5213277"/>
            <a:ext cx="1409540" cy="792866"/>
          </a:xfrm>
          <a:prstGeom prst="rect">
            <a:avLst/>
          </a:prstGeom>
        </p:spPr>
      </p:pic>
      <p:pic>
        <p:nvPicPr>
          <p:cNvPr id="11" name="Picture 10">
            <a:hlinkClick r:id="rId6"/>
            <a:extLst>
              <a:ext uri="{FF2B5EF4-FFF2-40B4-BE49-F238E27FC236}">
                <a16:creationId xmlns:a16="http://schemas.microsoft.com/office/drawing/2014/main" id="{5DF38091-2ABD-F70E-1AD8-E276A31F0F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768" y="5135630"/>
            <a:ext cx="948159" cy="948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BA18AB-8BE4-A027-30E8-0655A7358E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618" y="1521611"/>
            <a:ext cx="1966453" cy="2184543"/>
          </a:xfrm>
          <a:prstGeom prst="flowChartConnector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8855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Words>556</Words>
  <Application>Microsoft Office PowerPoint</Application>
  <PresentationFormat>Widescreen</PresentationFormat>
  <Paragraphs>76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Aparajita</vt:lpstr>
      <vt:lpstr>Arial</vt:lpstr>
      <vt:lpstr>Bell MT</vt:lpstr>
      <vt:lpstr>Calibri</vt:lpstr>
      <vt:lpstr>Calibri Light</vt:lpstr>
      <vt:lpstr>Calisto MT</vt:lpstr>
      <vt:lpstr>Office Theme</vt:lpstr>
      <vt:lpstr>Online Retail Sales &amp; Customer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BISWAJIT SASMAL</dc:creator>
  <cp:lastModifiedBy>BISWAJIT SASMAL</cp:lastModifiedBy>
  <cp:revision>37</cp:revision>
  <dcterms:created xsi:type="dcterms:W3CDTF">2026-04-02T12:37:34Z</dcterms:created>
  <dcterms:modified xsi:type="dcterms:W3CDTF">2026-06-18T11:10:21Z</dcterms:modified>
</cp:coreProperties>
</file>